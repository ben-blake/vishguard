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3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n-blake/vishguard" TargetMode="External"/><Relationship Id="rId2" Type="http://schemas.openxmlformats.org/officeDocument/2006/relationships/hyperlink" Target="https://vimeo.com/1187092533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VishGuard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D0D8E8"/>
                </a:solidFill>
              </a:rPr>
              <a:t>Vishing-Risk Audio Analysis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606040"/>
            <a:ext cx="3959352" cy="36576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Ben Blake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D8E8"/>
                </a:solidFill>
              </a:rPr>
              <a:t>CS 5542 — Big Data Analytics  |  UMKC,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D8E8"/>
                </a:solidFill>
              </a:rPr>
              <a:t>2026-04-27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 err="1">
                <a:solidFill>
                  <a:srgbClr val="8899AA"/>
                </a:solidFill>
              </a:rPr>
              <a:t>github.com</a:t>
            </a:r>
            <a:r>
              <a:rPr sz="1400" b="0" dirty="0">
                <a:solidFill>
                  <a:srgbClr val="8899AA"/>
                </a:solidFill>
              </a:rPr>
              <a:t>/</a:t>
            </a:r>
            <a:r>
              <a:rPr lang="en-US" sz="1400" b="0" dirty="0">
                <a:solidFill>
                  <a:srgbClr val="8899AA"/>
                </a:solidFill>
              </a:rPr>
              <a:t>ben-</a:t>
            </a:r>
            <a:r>
              <a:rPr lang="en-US" sz="1400" b="0" dirty="0" err="1">
                <a:solidFill>
                  <a:srgbClr val="8899AA"/>
                </a:solidFill>
              </a:rPr>
              <a:t>blake</a:t>
            </a:r>
            <a:r>
              <a:rPr lang="en-US" sz="1400" b="0" dirty="0">
                <a:solidFill>
                  <a:srgbClr val="8899AA"/>
                </a:solidFill>
              </a:rPr>
              <a:t>/</a:t>
            </a:r>
            <a:r>
              <a:rPr lang="en-US" sz="1400" b="0" dirty="0" err="1">
                <a:solidFill>
                  <a:srgbClr val="8899AA"/>
                </a:solidFill>
              </a:rPr>
              <a:t>vishguard</a:t>
            </a:r>
            <a:r>
              <a:rPr sz="1400" b="0" dirty="0">
                <a:solidFill>
                  <a:srgbClr val="8899AA"/>
                </a:solidFill>
              </a:rPr>
              <a:t>   |   </a:t>
            </a:r>
            <a:r>
              <a:rPr sz="1400" b="0" dirty="0" err="1">
                <a:solidFill>
                  <a:srgbClr val="8899AA"/>
                </a:solidFill>
              </a:rPr>
              <a:t>vimeo.com</a:t>
            </a:r>
            <a:r>
              <a:rPr sz="1400" b="0" dirty="0">
                <a:solidFill>
                  <a:srgbClr val="8899AA"/>
                </a:solidFill>
              </a:rPr>
              <a:t>/1187092533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Problem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Vishing (voice phishing) is the fastest-growing fraud vector — $2.4 B in losses in 2023 (FBI IC3).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Attackers now use AI-generated synthetic voices indistinguishable to untrained 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Targets include elderly individuals, corporate finance teams, and government employees.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No low-latency, open-source pipeline existed that combines voice deepfake detection with tactic classification.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68879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79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FFFFFF"/>
                </a:solidFill>
              </a:rPr>
              <a:t>VishGuard</a:t>
            </a:r>
            <a:r>
              <a:rPr sz="1800" b="0" dirty="0">
                <a:solidFill>
                  <a:srgbClr val="FFFFFF"/>
                </a:solidFill>
              </a:rPr>
              <a:t> fills gap: ingest a call recording → flag synthetic voice → label social-engineering tactics → score risk.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394960"/>
            <a:ext cx="11430000" cy="1097280"/>
          </a:xfrm>
          <a:prstGeom prst="rect">
            <a:avLst/>
          </a:prstGeom>
          <a:solidFill>
            <a:srgbClr val="16213E"/>
          </a:solidFill>
          <a:ln>
            <a:solidFill>
              <a:srgbClr val="E9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71388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dirty="0">
                <a:solidFill>
                  <a:srgbClr val="E94C60"/>
                </a:solidFill>
              </a:rPr>
              <a:t>Goal: give fraud analysts a sub-60-second automated risk verdict for any phone call, with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This Matters — Business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C60"/>
                </a:solidFill>
              </a:rPr>
              <a:t>Financial Crime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05156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Screen inbound tip-line calls for synthetic voice before analyst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35607"/>
            <a:ext cx="11430000" cy="9144"/>
          </a:xfrm>
          <a:prstGeom prst="rect">
            <a:avLst/>
          </a:prstGeom>
          <a:solidFill>
            <a:srgbClr val="33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C60"/>
                </a:solidFill>
              </a:rPr>
              <a:t>Telecom Carriers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380744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</a:rPr>
              <a:t>Real-time vishing detection at the PSTN edge — flag calls before they reach subscribers.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11430000" cy="9144"/>
          </a:xfrm>
          <a:prstGeom prst="rect">
            <a:avLst/>
          </a:prstGeom>
          <a:solidFill>
            <a:srgbClr val="33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C60"/>
                </a:solidFill>
              </a:rPr>
              <a:t>Enterprise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5740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</a:rPr>
              <a:t>Auto-triage recorded helpdesk calls for credential-harvesting attempts.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41448"/>
            <a:ext cx="11430000" cy="9144"/>
          </a:xfrm>
          <a:prstGeom prst="rect">
            <a:avLst/>
          </a:prstGeom>
          <a:solidFill>
            <a:srgbClr val="33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C60"/>
                </a:solidFill>
              </a:rPr>
              <a:t>Consumer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404426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Browser/phone assistant plugin that warns users mid-call when deepfake voice is detected.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44368"/>
            <a:ext cx="11430000" cy="9144"/>
          </a:xfrm>
          <a:prstGeom prst="rect">
            <a:avLst/>
          </a:prstGeom>
          <a:solidFill>
            <a:srgbClr val="33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Differentiator vs. prior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033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End-to-end open-source: no paid API, no data leaves the device.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690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Runs on a single Colab T4 GPU in ~22 s mean latency (cold-start model load excluded).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348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Structured JSON output enables downstream SIEM integration.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8006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006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Multimodal: produces a spoken briefing for use in audio-only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Datasets &amp;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C60"/>
                </a:solidFill>
              </a:rPr>
              <a:t>Runtime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0700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Any WAV / MP3 / M4A phone call recording (16 kHz mono after ingestion).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No metadata required. Duration: 15–90 s tested; longer clips chunked at 30 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C60"/>
                </a:solidFill>
              </a:rPr>
              <a:t>Evaluation corpora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95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D8E8"/>
                </a:solidFill>
              </a:rPr>
              <a:t>Anti-spoof (T3.2)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957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LibriSpeech dev-clean — 50 real clips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9572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AA"/>
                </a:solidFill>
              </a:rPr>
              <a:t>HuggingFace streaming, no download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43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D8E8"/>
                </a:solidFill>
              </a:rPr>
              <a:t>Anti-spoof (T3.2)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43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SpeechT5-generated — 50 synthetic clips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7432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AA"/>
                </a:solidFill>
              </a:rPr>
              <a:t>Generated from LibriSpeech text via briefingTts.py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0906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D8E8"/>
                </a:solidFill>
              </a:rPr>
              <a:t>Tactic classifier (T3.4)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090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50 hand-verified call scripts (JSONL)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090672"/>
            <a:ext cx="4297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8899AA"/>
                </a:solidFill>
              </a:rPr>
              <a:t>Claude claude-sonnet-4-6 generated</a:t>
            </a:r>
            <a:r>
              <a:rPr lang="en-US" sz="1300" b="0" dirty="0">
                <a:solidFill>
                  <a:srgbClr val="8899AA"/>
                </a:solidFill>
              </a:rPr>
              <a:t> (see </a:t>
            </a:r>
            <a:r>
              <a:rPr lang="en-US" sz="1300" b="0" dirty="0" err="1">
                <a:solidFill>
                  <a:srgbClr val="8899AA"/>
                </a:solidFill>
              </a:rPr>
              <a:t>AI_TOOLS.md</a:t>
            </a:r>
            <a:r>
              <a:rPr lang="en-US" sz="1300" b="0" dirty="0">
                <a:solidFill>
                  <a:srgbClr val="8899AA"/>
                </a:solidFill>
              </a:rPr>
              <a:t>)</a:t>
            </a:r>
            <a:endParaRPr sz="1300" b="0" dirty="0">
              <a:solidFill>
                <a:srgbClr val="8899AA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760" y="34381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D8E8"/>
                </a:solidFill>
              </a:rPr>
              <a:t>ASR WER (T3.5)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4381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LibriSpeech 1272-128104-* (10 clips × 3 SNR)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43814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AA"/>
                </a:solidFill>
              </a:rPr>
              <a:t>Clean + Gaussian noise at SNR 20 dB / 10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785615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D8E8"/>
                </a:solidFill>
              </a:rPr>
              <a:t>Latency bench (T3.6)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78561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Silent synthetic WAVs at 15/45/90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785615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AA"/>
                </a:solidFill>
              </a:rPr>
              <a:t>Generated in-script — no external download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362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0D8E8"/>
                </a:solidFill>
              </a:rPr>
              <a:t>No proprietary or gated datasets — fully reproducible with a Colab free tier.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Models Used — Pipeline Model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1161288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C60"/>
                </a:solidFill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8686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C60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868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C60"/>
                </a:solidFill>
              </a:rPr>
              <a:t>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868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C60"/>
                </a:solidFill>
              </a:rPr>
              <a:t>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8686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C60"/>
                </a:solidFill>
              </a:rPr>
              <a:t>Why chosen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29844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29844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openai/whisper-small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29844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244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29844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29844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Direct WhisperProcessor API — avoids transformers 5.x pipeline bug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783080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181051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Anti-spoof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1810512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mo-thecreator/
Deepfake-audio-detection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81051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~90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81051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Apache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81051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Only HF checkpoint that reliably separates real vs. synthetic (T1.1)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95144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322576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Tactic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322576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Qwen/Qwen2.5-3B-Instruct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32257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322576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Apache 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322576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10/10 valid JSON; fits T4 fp16; v4 prompt → macro-F1 0.604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807208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283464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TTS (bonus)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283464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microsoft/speecht5_tts + HiFi-GAN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283464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83464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283464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High intelligibility; deterministic via speaker index 7306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319272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3346704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TTS speaker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3346704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Matthijs/cmu-arctic-xvectors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334670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34670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CC-BY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3346704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Speaker embedding for SpeechT5 (snapshot_download + ZIP)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31336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62362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8"/>
                </a:solidFill>
              </a:rPr>
              <a:t>All models load from HuggingFace Hub — Apache 2.0 / MIT — no gated-repo approvals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E983D9-4A2D-6B32-06C1-4533B61B2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490" y="834413"/>
            <a:ext cx="4455843" cy="58864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Prompt Engineering — Tactic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94C60"/>
                </a:solidFill>
              </a:rPr>
              <a:t>10-label 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D8E8"/>
                </a:solidFill>
              </a:rPr>
              <a:t>authority  •  impersonation  •  urgency  •  fear_intimidation  •  pretexting
financial_manipulation  •  credential_harvesting  •  tech_support  •  romance_scam  •  benign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933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94C60"/>
                </a:solidFill>
              </a:rPr>
              <a:t>Prompt iteration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95728"/>
            <a:ext cx="11521440" cy="402336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4144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C60"/>
                </a:solidFill>
              </a:rPr>
              <a:t>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Bare label list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44144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macro-F1: 0.024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44144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8E8"/>
                </a:solidFill>
              </a:rPr>
              <a:t>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34640"/>
            <a:ext cx="11521440" cy="402336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C60"/>
                </a:solidFill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80360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Definitions + 3 few-shot examples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88036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macro-F1: 0.454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88036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8E8"/>
                </a:solidFill>
              </a:rPr>
              <a:t>+43 pts vs v1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73552"/>
            <a:ext cx="11521440" cy="402336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192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C60"/>
                </a:solidFill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19272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Fixed impersonation def; 5 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31927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macro-F1: 0.515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3192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8E8"/>
                </a:solidFill>
              </a:rPr>
              <a:t>+6 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12464"/>
            <a:ext cx="11521440" cy="40233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75818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C60"/>
                </a:solidFill>
              </a:rPr>
              <a:t>v4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58184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CC71"/>
                </a:solidFill>
              </a:rPr>
              <a:t>9 examples; co-occurrence regression fixes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75818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C71"/>
                </a:solidFill>
              </a:rPr>
              <a:t>macro-F1: 0.604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7581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8E8"/>
                </a:solidFill>
              </a:rPr>
              <a:t>deployed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708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94C60"/>
                </a:solidFill>
              </a:rPr>
              <a:t>Key design decisions in v4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7365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365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Added negative examples: 'pay with gift card' is financial_manipulation, NOT pretexting.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1023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0235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Authority/fear co-occurrence: 'arrest warrant from FBI' → authority + fear_intimidation (not just authority).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4681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68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JSON output format enforced: [{"label":…,"confidence":…,"evidenceSpans":[…]}].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Evaluation Results — Phase 3 (Colab T4)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560320" cy="1188720"/>
          </a:xfrm>
          <a:prstGeom prst="rect">
            <a:avLst/>
          </a:prstGeom>
          <a:solidFill>
            <a:srgbClr val="16213E"/>
          </a:solidFill>
          <a:ln>
            <a:solidFill>
              <a:srgbClr val="E9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00584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4C60"/>
                </a:solidFill>
              </a:rPr>
              <a:t>0.83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4592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8"/>
                </a:solidFill>
              </a:rPr>
              <a:t>Anti-spoof Accuracy
(n=100)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960120"/>
            <a:ext cx="2194560" cy="1188720"/>
          </a:xfrm>
          <a:prstGeom prst="rect">
            <a:avLst/>
          </a:prstGeom>
          <a:solidFill>
            <a:srgbClr val="16213E"/>
          </a:solidFill>
          <a:ln>
            <a:solidFill>
              <a:srgbClr val="E9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1005840"/>
            <a:ext cx="20116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4C60"/>
                </a:solidFill>
              </a:rPr>
              <a:t>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64592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8"/>
                </a:solidFill>
              </a:rPr>
              <a:t>Anti-spoof 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960120"/>
            <a:ext cx="2194560" cy="1188720"/>
          </a:xfrm>
          <a:prstGeom prst="rect">
            <a:avLst/>
          </a:prstGeom>
          <a:solidFill>
            <a:srgbClr val="16213E"/>
          </a:solidFill>
          <a:ln>
            <a:solidFill>
              <a:srgbClr val="E9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2120" y="1005840"/>
            <a:ext cx="20116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4C60"/>
                </a:solidFill>
              </a:rPr>
              <a:t>0.66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64592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8"/>
                </a:solidFill>
              </a:rPr>
              <a:t>Anti-spoof Recall (synthetic)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960120"/>
            <a:ext cx="1920240" cy="1188720"/>
          </a:xfrm>
          <a:prstGeom prst="rect">
            <a:avLst/>
          </a:prstGeom>
          <a:solidFill>
            <a:srgbClr val="16213E"/>
          </a:solidFill>
          <a:ln>
            <a:solidFill>
              <a:srgbClr val="E9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100584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4C60"/>
                </a:solidFill>
              </a:rPr>
              <a:t>0.14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645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8"/>
                </a:solidFill>
              </a:rPr>
              <a:t>EER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40" y="960120"/>
            <a:ext cx="1920240" cy="1188720"/>
          </a:xfrm>
          <a:prstGeom prst="rect">
            <a:avLst/>
          </a:prstGeom>
          <a:solidFill>
            <a:srgbClr val="16213E"/>
          </a:solidFill>
          <a:ln>
            <a:solidFill>
              <a:srgbClr val="E9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12680" y="100584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4C60"/>
                </a:solidFill>
              </a:rPr>
              <a:t>0.604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1645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8"/>
                </a:solidFill>
              </a:rPr>
              <a:t>Tactic macro-F1
(v4, n=50)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30428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C60"/>
                </a:solidFill>
              </a:rPr>
              <a:t>Tactic F1 by label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07791"/>
            <a:ext cx="18288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2670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benign: 1.00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907791"/>
            <a:ext cx="146304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0" y="2670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tech_support: 0.80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907791"/>
            <a:ext cx="128016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0" y="2670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financial_manipulation: 0.70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907791"/>
            <a:ext cx="1042415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79" y="2670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urgency: 0.57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19" y="2907791"/>
            <a:ext cx="1005840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19" y="2670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authority: 0.55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47872"/>
            <a:ext cx="914400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3310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romance_scam: 0.50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547872"/>
            <a:ext cx="914400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0" y="3310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credential_harvesting: 0.50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3547872"/>
            <a:ext cx="84124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20640" y="3310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pretexting: 0.46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547872"/>
            <a:ext cx="731520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79" y="3310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impersonation: 0.40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19" y="3547872"/>
            <a:ext cx="658368" cy="10972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75519" y="3310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fear_intimidation: 0.36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005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C60"/>
                </a:solidFill>
              </a:rPr>
              <a:t>End-to-end latency (TTS disabled, T4)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4074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D8E8"/>
                </a:solidFill>
              </a:rPr>
              <a:t>15 s clip (cold start)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71830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33.9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44074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D8E8"/>
                </a:solidFill>
              </a:rPr>
              <a:t>45 s clip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79" y="471830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13.2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44074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D8E8"/>
                </a:solidFill>
              </a:rPr>
              <a:t>90 s clip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471830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17.9 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4074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D8E8"/>
                </a:solidFill>
              </a:rPr>
              <a:t>Mean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471830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21.7 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1663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8E8"/>
                </a:solidFill>
              </a:rPr>
              <a:t>ASR WER: Both whisper-tiny and whisper-small produce mean WER ~1.89 on T3.5 LibriSpeech due to hallucination on short repeated clips (see slide 11). T1.3 in-domain telephony WER: 0.013 clean / 0.032 noisy.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Evaluation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C60"/>
                </a:solidFill>
              </a:rPr>
              <a:t>Anti-spoof confusion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1234440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94C60"/>
                </a:solidFill>
              </a:rPr>
              <a:t>Pred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1234440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94C60"/>
                </a:solidFill>
              </a:rPr>
              <a:t>Pred Synth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94C60"/>
                </a:solidFill>
              </a:rPr>
              <a:t>True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581912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ECC71"/>
                </a:solidFill>
              </a:rPr>
              <a:t>50 (TN)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581912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0 (FP)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94C60"/>
                </a:solidFill>
              </a:rPr>
              <a:t>True Synth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929384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94C60"/>
                </a:solidFill>
              </a:rPr>
              <a:t>17 (FN)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929384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ECC71"/>
                </a:solidFill>
              </a:rPr>
              <a:t>33 (TP)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84124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C60"/>
                </a:solidFill>
              </a:rPr>
              <a:t>Tactic v1 → v4 macro-F1 progression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43559"/>
            <a:ext cx="822960" cy="48280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96923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101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0D8E8"/>
                </a:solidFill>
              </a:rPr>
              <a:t>0.024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0" y="2378537"/>
            <a:ext cx="822960" cy="91330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0" y="210421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3101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0D8E8"/>
                </a:solidFill>
              </a:rPr>
              <a:t>0.454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2255824"/>
            <a:ext cx="822960" cy="1036015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19815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31012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0D8E8"/>
                </a:solidFill>
              </a:rPr>
              <a:t>0.515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076785"/>
            <a:ext cx="822960" cy="121505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1802465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3101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0D8E8"/>
                </a:solidFill>
              </a:rPr>
              <a:t>0.604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4290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C60"/>
                </a:solidFill>
              </a:rPr>
              <a:t>Key observations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7947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7947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Anti-spoof: perfect precision (0 FP), 34% miss rate on SpeechT5 synthetic (distribution shift — see slide 11).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1605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160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Tactic v2 → v3 jump: +6 pts from fixing the impersonation definition (adds 'government agency' framing).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5262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5262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v3 → v4 jump: +8.9 pts from 4 co-occurrence examples targeting fear/credential co-labelling regressions.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8920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8920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Latency dominated by model cold-start on first call (33.9 s); subsequent calls ~15 s (warm model cache).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Demo &amp;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4C60"/>
                </a:solidFill>
              </a:rPr>
              <a:t>Demo video</a:t>
            </a:r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457200" y="141732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 err="1">
                <a:solidFill>
                  <a:srgbClr val="FFFFFF"/>
                </a:solidFill>
                <a:hlinkClick r:id="rId2"/>
              </a:rPr>
              <a:t>vimeo.com</a:t>
            </a:r>
            <a:r>
              <a:rPr sz="2800" b="1" dirty="0">
                <a:solidFill>
                  <a:srgbClr val="FFFFFF"/>
                </a:solidFill>
                <a:hlinkClick r:id="rId2"/>
              </a:rPr>
              <a:t>/1187092533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D0D8E8"/>
                </a:solidFill>
              </a:rPr>
              <a:t>1:43 — upload call → transcript + spoof verdict + tactics → risk score → spoken TTS briefing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87168"/>
            <a:ext cx="9418320" cy="2743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4C60"/>
                </a:solidFill>
              </a:rPr>
              <a:t>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35808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D0D8E8"/>
                </a:solidFill>
                <a:hlinkClick r:id="rId3"/>
              </a:rPr>
              <a:t>github.com/ben-blake/vishguard</a:t>
            </a:r>
            <a:endParaRPr sz="1600" b="0" dirty="0">
              <a:solidFill>
                <a:srgbClr val="D0D8E8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3547872"/>
            <a:ext cx="9418320" cy="2743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What the demo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965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965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Pre-loaded results for a synthetic IRS-impersonation call (SpeechT5-generated).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622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6227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Transcript + spoof verdict (p_synthetic ≥ 0.98) + tactics: authority, fear_intimidation, financial_manipulation.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280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Risk score: 92 / 100 — critical band.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937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4C60"/>
                </a:solidFill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937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SpeechT5 spoken briefing audio plays live in Streamlit.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Limitations &amp; Failure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1463040"/>
          </a:xfrm>
          <a:prstGeom prst="rect">
            <a:avLst/>
          </a:prstGeom>
          <a:solidFill>
            <a:srgbClr val="16213E"/>
          </a:solidFill>
          <a:ln>
            <a:solidFill>
              <a:srgbClr val="E9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1498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C60"/>
                </a:solidFill>
              </a:rPr>
              <a:t>Anti-spoof: 34% miss rate on SpeechT5 synthetic clips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Distribution shift — model trained on a different TTS family.
17 / 50 SpeechT5 clips scored p(synth) &lt; 0.5 → labelled 'real'.
Fix: ensemble of anti-spoof heads or periodic retraining on current TTS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532888"/>
            <a:ext cx="11521440" cy="1463040"/>
          </a:xfrm>
          <a:prstGeom prst="rect">
            <a:avLst/>
          </a:prstGeom>
          <a:solidFill>
            <a:srgbClr val="16213E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58775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</a:rPr>
              <a:t>Tactic classifier: fear_intimidation F1=0.36, impersonation F1=0.40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4436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3B model collapses multi-label co-occurrences onto a single dominant label.
Small eval corpus (8 fear / 7 impersonation positive examples) makes per-label F1 unstable.
Fix: larger model (7B+) with chain-of-thought decomposition or a two-pass classification strategy.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105656"/>
            <a:ext cx="11521440" cy="1463040"/>
          </a:xfrm>
          <a:prstGeom prst="rect">
            <a:avLst/>
          </a:prstGeom>
          <a:solidFill>
            <a:srgbClr val="16213E"/>
          </a:solidFill>
          <a:ln>
            <a:solidFill>
              <a:srgbClr val="E9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C60"/>
                </a:solidFill>
              </a:rPr>
              <a:t>ASR WER &gt; 1.0 on T3.5 LibriSpeech test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17136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Whisper hallucination on short (&lt; 5 s), repetitive clips from the same recording session.
T3.5 test set is not representative of telephony speech (see T1.3: WER 0.013 clean, 0.032 noisy).
Fix: evaluate on a held-out telephony corpus; use chunks ≥ 10 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AI Tools Disclosure — CS 5542 Rubric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8288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0D8E8"/>
                </a:solidFill>
              </a:rPr>
              <a:t>All AI assistance declared per docs/AI_TOOLS.md (committed, auditable against git log).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116128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C60"/>
                </a:solidFill>
              </a:rP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2801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C60"/>
                </a:solidFill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C60"/>
                </a:solidFill>
              </a:rPr>
              <a:t>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2801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C60"/>
                </a:solidFill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642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Phase 0 —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642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Claude Code (Opus)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642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AI-generated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642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PRD, ARCHITECTURE, TASKS, AI_TOOLS scaffold, CLAUDE.md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20824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0482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Phase 1 — Spikes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0482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Claude Code (Sonnet)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482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AI-assisted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04825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3 Colab spike notebooks; debugged 5 runtime errors; confirmed mo-thecreator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04872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4323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Phase 2 — Core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432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Claude Code (Sonnet)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4323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AI-generated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43230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All 6 pipeline modules (TDD, 68 tests); orchestrator; CLI; report 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88920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28163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Phase 3 —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28163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Claude Code (Sonnet)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816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AI-generated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81635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Eval harness (6 scripts, 49 tests); 50-script tactic corpus; prompt v2→v4 iteration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172968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3200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Phase 4 —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200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Claude Code (Sonnet)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200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AI-generated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2004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Streamlit app, pageReport helpers (21 tests), README, FAILURES.md, code-review fixes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557016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35844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Phase 5 — Deliverables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35844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Claude Code (Sonnet)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5844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AI-assisted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5844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Demo notebook, audio regen, pre-warm fix, briefingTts.py dataset fix, this deck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941063"/>
            <a:ext cx="11612880" cy="9144"/>
          </a:xfrm>
          <a:prstGeom prst="rect">
            <a:avLst/>
          </a:prstGeom>
          <a:solidFill>
            <a:srgbClr val="2A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598932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8E8"/>
                </a:solidFill>
              </a:rPr>
              <a:t>Human contributions (Ben Blake): all Colab runs, cell output review, model selection decisions, tactic corpus hand-annotation (50/50 retained), prompt iteration strategy, demo recording.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1482</Words>
  <Application>Microsoft Macintosh PowerPoint</Application>
  <PresentationFormat>Custom</PresentationFormat>
  <Paragraphs>232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Blake, Ben (UMKC-Student)</cp:lastModifiedBy>
  <cp:revision>3</cp:revision>
  <dcterms:created xsi:type="dcterms:W3CDTF">2013-01-27T09:14:16Z</dcterms:created>
  <dcterms:modified xsi:type="dcterms:W3CDTF">2026-04-27T21:24:00Z</dcterms:modified>
  <cp:category/>
</cp:coreProperties>
</file>